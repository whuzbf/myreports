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BCEC"/>
    <a:srgbClr val="F29B78"/>
    <a:srgbClr val="E6001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1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46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37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981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06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14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35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005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98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782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236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87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FA77A-E3C9-4B00-A819-6F3D74E73EAA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5CDB0-9885-42FB-B800-985209E837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37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sv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FB3708-5738-7612-4CB0-E9A40E487548}"/>
              </a:ext>
            </a:extLst>
          </p:cNvPr>
          <p:cNvSpPr txBox="1"/>
          <p:nvPr/>
        </p:nvSpPr>
        <p:spPr>
          <a:xfrm>
            <a:off x="-50736" y="-46592"/>
            <a:ext cx="6053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Warm-up: A quick review on superstring theory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7A8A220E-7083-404A-1E43-991DEED13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9428" y="368863"/>
            <a:ext cx="4565444" cy="1265873"/>
          </a:xfrm>
          <a:prstGeom prst="rect">
            <a:avLst/>
          </a:prstGeom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1E5CEB71-BD87-A54B-A0D1-E8FA9BAAB889}"/>
              </a:ext>
            </a:extLst>
          </p:cNvPr>
          <p:cNvSpPr/>
          <p:nvPr/>
        </p:nvSpPr>
        <p:spPr>
          <a:xfrm>
            <a:off x="3575050" y="849399"/>
            <a:ext cx="698500" cy="3048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BB42EB-F64B-9E32-9271-4965880BE481}"/>
              </a:ext>
            </a:extLst>
          </p:cNvPr>
          <p:cNvSpPr txBox="1"/>
          <p:nvPr/>
        </p:nvSpPr>
        <p:spPr>
          <a:xfrm>
            <a:off x="31814" y="2495551"/>
            <a:ext cx="8940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String Theory is a </a:t>
            </a:r>
            <a:r>
              <a:rPr lang="en-US" altLang="zh-CN" b="1" dirty="0"/>
              <a:t>sigma model</a:t>
            </a:r>
            <a:r>
              <a:rPr lang="en-US" altLang="zh-CN" dirty="0"/>
              <a:t> on the </a:t>
            </a:r>
            <a:r>
              <a:rPr lang="en-US" altLang="zh-CN" dirty="0" err="1"/>
              <a:t>worldsheet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turns out string theory can be described by a </a:t>
            </a:r>
            <a:r>
              <a:rPr lang="en-US" altLang="zh-CN" b="1" dirty="0"/>
              <a:t>free CFT </a:t>
            </a:r>
            <a:r>
              <a:rPr lang="en-US" altLang="zh-CN" dirty="0"/>
              <a:t>on the </a:t>
            </a:r>
            <a:r>
              <a:rPr lang="en-US" altLang="zh-CN" dirty="0" err="1"/>
              <a:t>worldsheet</a:t>
            </a:r>
            <a:r>
              <a:rPr lang="en-US" altLang="zh-CN" dirty="0"/>
              <a:t>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27A25B3-5197-B0DF-A273-17D7532F1A39}"/>
                  </a:ext>
                </a:extLst>
              </p:cNvPr>
              <p:cNvSpPr txBox="1"/>
              <p:nvPr/>
            </p:nvSpPr>
            <p:spPr>
              <a:xfrm>
                <a:off x="608090" y="1765125"/>
                <a:ext cx="2841291" cy="600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pp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𝑚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𝜇𝜈</m:t>
                                  </m:r>
                                </m:sub>
                              </m:sSub>
                              <m:acc>
                                <m:accPr>
                                  <m:chr m:val="̇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p>
                                  </m:sSup>
                                </m:e>
                              </m:acc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27A25B3-5197-B0DF-A273-17D7532F1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90" y="1765125"/>
                <a:ext cx="2841291" cy="6000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C2EA95B-705F-F0A2-1C38-F26F90DA134E}"/>
                  </a:ext>
                </a:extLst>
              </p:cNvPr>
              <p:cNvSpPr txBox="1"/>
              <p:nvPr/>
            </p:nvSpPr>
            <p:spPr>
              <a:xfrm>
                <a:off x="3924300" y="1763971"/>
                <a:ext cx="4551824" cy="6023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NG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nary>
                        <m:naryPr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𝜇𝜈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ra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C2EA95B-705F-F0A2-1C38-F26F90DA1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300" y="1763971"/>
                <a:ext cx="4551824" cy="6023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图形 37">
            <a:extLst>
              <a:ext uri="{FF2B5EF4-FFF2-40B4-BE49-F238E27FC236}">
                <a16:creationId xmlns:a16="http://schemas.microsoft.com/office/drawing/2014/main" id="{CEE6E249-D29B-D868-DF2E-83221D096E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5701" y="3141882"/>
            <a:ext cx="6692897" cy="15628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4E36BE1-243E-07E1-B83D-C9406EFD0977}"/>
                  </a:ext>
                </a:extLst>
              </p:cNvPr>
              <p:cNvSpPr txBox="1"/>
              <p:nvPr/>
            </p:nvSpPr>
            <p:spPr>
              <a:xfrm>
                <a:off x="974725" y="4763412"/>
                <a:ext cx="36934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Rieman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surface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↪</m:t>
                      </m:r>
                      <m:r>
                        <m:rPr>
                          <m:nor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ur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spacetime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4E36BE1-243E-07E1-B83D-C9406EFD0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25" y="4763412"/>
                <a:ext cx="3693447" cy="276999"/>
              </a:xfrm>
              <a:prstGeom prst="rect">
                <a:avLst/>
              </a:prstGeom>
              <a:blipFill>
                <a:blip r:embed="rId8"/>
                <a:stretch>
                  <a:fillRect l="-825" r="-1320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1721217-C637-85CA-66D7-64FF0191A36F}"/>
                  </a:ext>
                </a:extLst>
              </p:cNvPr>
              <p:cNvSpPr txBox="1"/>
              <p:nvPr/>
            </p:nvSpPr>
            <p:spPr>
              <a:xfrm>
                <a:off x="860986" y="5167411"/>
                <a:ext cx="294266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fix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b="1" i="0">
                          <a:latin typeface="Cambria Math" panose="02040503050406030204" pitchFamily="18" charset="0"/>
                        </a:rPr>
                        <m:t>diff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CN" b="1" i="0">
                          <a:latin typeface="Cambria Math" panose="02040503050406030204" pitchFamily="18" charset="0"/>
                        </a:rPr>
                        <m:t>weyl</m:t>
                      </m:r>
                      <m:r>
                        <m:rPr>
                          <m:nor/>
                        </m:rPr>
                        <a:rPr lang="en-US" altLang="zh-CN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gauge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1721217-C637-85CA-66D7-64FF0191A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86" y="5167411"/>
                <a:ext cx="2942664" cy="276999"/>
              </a:xfrm>
              <a:prstGeom prst="rect">
                <a:avLst/>
              </a:prstGeom>
              <a:blipFill>
                <a:blip r:embed="rId9"/>
                <a:stretch>
                  <a:fillRect t="-4444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本框 45">
            <a:extLst>
              <a:ext uri="{FF2B5EF4-FFF2-40B4-BE49-F238E27FC236}">
                <a16:creationId xmlns:a16="http://schemas.microsoft.com/office/drawing/2014/main" id="{BDB15C38-BE53-739C-AA48-FEA4C04C2B2E}"/>
              </a:ext>
            </a:extLst>
          </p:cNvPr>
          <p:cNvSpPr txBox="1"/>
          <p:nvPr/>
        </p:nvSpPr>
        <p:spPr>
          <a:xfrm>
            <a:off x="0" y="6477275"/>
            <a:ext cx="806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 avoid conformal anomalies, central charge should be zero, which implies </a:t>
            </a:r>
            <a:r>
              <a:rPr lang="en-US" altLang="zh-CN" b="1" dirty="0"/>
              <a:t>D=26, 10</a:t>
            </a:r>
            <a:endParaRPr lang="zh-CN" altLang="en-US" b="1" dirty="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5453B61-8AB9-F857-485C-34D371DEB1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5600" y="4707211"/>
            <a:ext cx="3956885" cy="17889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7A317B1-7775-C692-5AC9-B88E9833616B}"/>
                  </a:ext>
                </a:extLst>
              </p:cNvPr>
              <p:cNvSpPr txBox="1"/>
              <p:nvPr/>
            </p:nvSpPr>
            <p:spPr>
              <a:xfrm>
                <a:off x="793634" y="5571410"/>
                <a:ext cx="41572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interactions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⟺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worldsheet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topologies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7A317B1-7775-C692-5AC9-B88E98336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34" y="5571410"/>
                <a:ext cx="4157227" cy="276999"/>
              </a:xfrm>
              <a:prstGeom prst="rect">
                <a:avLst/>
              </a:prstGeom>
              <a:blipFill>
                <a:blip r:embed="rId11"/>
                <a:stretch>
                  <a:fillRect t="-2222" r="-587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本框 49">
            <a:extLst>
              <a:ext uri="{FF2B5EF4-FFF2-40B4-BE49-F238E27FC236}">
                <a16:creationId xmlns:a16="http://schemas.microsoft.com/office/drawing/2014/main" id="{CB792782-FCF0-4CBE-3914-F835149B487D}"/>
              </a:ext>
            </a:extLst>
          </p:cNvPr>
          <p:cNvSpPr txBox="1"/>
          <p:nvPr/>
        </p:nvSpPr>
        <p:spPr>
          <a:xfrm>
            <a:off x="0" y="5839677"/>
            <a:ext cx="4950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Unlike QFT, string theory's interactions are </a:t>
            </a:r>
            <a:r>
              <a:rPr lang="en-US" altLang="zh-CN" b="1" dirty="0"/>
              <a:t>intrinsic</a:t>
            </a:r>
            <a:r>
              <a:rPr lang="en-US" altLang="zh-CN" dirty="0"/>
              <a:t> and </a:t>
            </a:r>
            <a:r>
              <a:rPr lang="en-US" altLang="zh-CN" b="1" dirty="0"/>
              <a:t>unique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305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24" grpId="0"/>
      <p:bldP spid="28" grpId="0"/>
      <p:bldP spid="42" grpId="0"/>
      <p:bldP spid="45" grpId="0"/>
      <p:bldP spid="46" grpId="0"/>
      <p:bldP spid="49" grpId="0"/>
      <p:bldP spid="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D927950-9560-A47A-34E2-7865FCC2E191}"/>
              </a:ext>
            </a:extLst>
          </p:cNvPr>
          <p:cNvSpPr txBox="1"/>
          <p:nvPr/>
        </p:nvSpPr>
        <p:spPr>
          <a:xfrm>
            <a:off x="0" y="0"/>
            <a:ext cx="6527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Amplitudes: Bosonic String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786DFA77-3506-86F3-1985-FFAA36A9C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57150"/>
            <a:ext cx="4485746" cy="2162990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E7430210-AEAB-EDF6-582A-D4E3D80B4C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8060" y="2389595"/>
            <a:ext cx="5539686" cy="2078810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B8D2235D-E3DB-0DAA-0A7D-DB19B37E36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18059" y="4705350"/>
            <a:ext cx="5539687" cy="1241132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C5F4ED34-5F85-3958-6955-AEE0E1C9C36A}"/>
              </a:ext>
            </a:extLst>
          </p:cNvPr>
          <p:cNvSpPr/>
          <p:nvPr/>
        </p:nvSpPr>
        <p:spPr>
          <a:xfrm>
            <a:off x="3452973" y="5145576"/>
            <a:ext cx="360680" cy="360680"/>
          </a:xfrm>
          <a:prstGeom prst="ellipse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429DDB8-1387-9BA2-0588-B2029587817B}"/>
              </a:ext>
            </a:extLst>
          </p:cNvPr>
          <p:cNvSpPr/>
          <p:nvPr/>
        </p:nvSpPr>
        <p:spPr>
          <a:xfrm>
            <a:off x="5164933" y="5145576"/>
            <a:ext cx="360680" cy="360680"/>
          </a:xfrm>
          <a:prstGeom prst="ellipse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6AEB1F1-417B-2199-942B-FDF95A019421}"/>
              </a:ext>
            </a:extLst>
          </p:cNvPr>
          <p:cNvSpPr/>
          <p:nvPr/>
        </p:nvSpPr>
        <p:spPr>
          <a:xfrm>
            <a:off x="6930999" y="5145576"/>
            <a:ext cx="360680" cy="360680"/>
          </a:xfrm>
          <a:prstGeom prst="ellipse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8B63060-9619-F0A6-00B2-31CD493E1A86}"/>
                  </a:ext>
                </a:extLst>
              </p:cNvPr>
              <p:cNvSpPr txBox="1"/>
              <p:nvPr/>
            </p:nvSpPr>
            <p:spPr>
              <a:xfrm>
                <a:off x="238125" y="2389595"/>
                <a:ext cx="957057" cy="6307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ℳ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ℊ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𝓃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8B63060-9619-F0A6-00B2-31CD493E1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5" y="2389595"/>
                <a:ext cx="957057" cy="630750"/>
              </a:xfrm>
              <a:prstGeom prst="rect">
                <a:avLst/>
              </a:prstGeom>
              <a:blipFill>
                <a:blip r:embed="rId8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0FB615FB-4321-CCEE-8B99-01859ADA87C4}"/>
              </a:ext>
            </a:extLst>
          </p:cNvPr>
          <p:cNvSpPr txBox="1"/>
          <p:nvPr/>
        </p:nvSpPr>
        <p:spPr>
          <a:xfrm>
            <a:off x="1113370" y="2480455"/>
            <a:ext cx="2339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 integrate over all complex structures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DDC4176-18D9-9C0A-8F4A-9B6158FB751E}"/>
                  </a:ext>
                </a:extLst>
              </p:cNvPr>
              <p:cNvSpPr txBox="1"/>
              <p:nvPr/>
            </p:nvSpPr>
            <p:spPr>
              <a:xfrm>
                <a:off x="174625" y="3166476"/>
                <a:ext cx="406842" cy="2899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𝜆𝜒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DDC4176-18D9-9C0A-8F4A-9B6158FB7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25" y="3166476"/>
                <a:ext cx="406842" cy="289951"/>
              </a:xfrm>
              <a:prstGeom prst="rect">
                <a:avLst/>
              </a:prstGeom>
              <a:blipFill>
                <a:blip r:embed="rId9"/>
                <a:stretch>
                  <a:fillRect l="-7576" t="-2083" r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AEA23544-DAB8-6C54-4EB6-32D089015196}"/>
              </a:ext>
            </a:extLst>
          </p:cNvPr>
          <p:cNvSpPr txBox="1"/>
          <p:nvPr/>
        </p:nvSpPr>
        <p:spPr>
          <a:xfrm>
            <a:off x="492567" y="3126786"/>
            <a:ext cx="3412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 sum over </a:t>
            </a:r>
            <a:r>
              <a:rPr lang="en-US" altLang="zh-CN" dirty="0" err="1"/>
              <a:t>worldsheet</a:t>
            </a:r>
            <a:r>
              <a:rPr lang="en-US" altLang="zh-CN" dirty="0"/>
              <a:t> topologies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1CCC6906-54A0-58BE-81A9-E9A0AD89F158}"/>
                  </a:ext>
                </a:extLst>
              </p:cNvPr>
              <p:cNvSpPr txBox="1"/>
              <p:nvPr/>
            </p:nvSpPr>
            <p:spPr>
              <a:xfrm>
                <a:off x="171838" y="3561855"/>
                <a:ext cx="641458" cy="566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1CCC6906-54A0-58BE-81A9-E9A0AD89F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38" y="3561855"/>
                <a:ext cx="641458" cy="5664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5C5118A5-B35A-FB4A-7441-572CDDA12F04}"/>
              </a:ext>
            </a:extLst>
          </p:cNvPr>
          <p:cNvSpPr txBox="1"/>
          <p:nvPr/>
        </p:nvSpPr>
        <p:spPr>
          <a:xfrm>
            <a:off x="767777" y="3628349"/>
            <a:ext cx="2635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 Amplitudes independent of </a:t>
            </a:r>
            <a:r>
              <a:rPr lang="en-US" altLang="zh-CN" dirty="0" err="1"/>
              <a:t>worldsheet</a:t>
            </a:r>
            <a:r>
              <a:rPr lang="en-US" altLang="zh-CN" dirty="0"/>
              <a:t> coordinates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BE88AE7-9FA5-BAD4-94CD-A34F253EB6D9}"/>
                  </a:ext>
                </a:extLst>
              </p:cNvPr>
              <p:cNvSpPr txBox="1"/>
              <p:nvPr/>
            </p:nvSpPr>
            <p:spPr>
              <a:xfrm>
                <a:off x="171838" y="4341174"/>
                <a:ext cx="592855" cy="291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i="0">
                              <a:latin typeface="Cambria Math" panose="02040503050406030204" pitchFamily="18" charset="0"/>
                            </a:rPr>
                            <m:t>CKG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BE88AE7-9FA5-BAD4-94CD-A34F253EB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38" y="4341174"/>
                <a:ext cx="592855" cy="291170"/>
              </a:xfrm>
              <a:prstGeom prst="rect">
                <a:avLst/>
              </a:prstGeom>
              <a:blipFill>
                <a:blip r:embed="rId11"/>
                <a:stretch>
                  <a:fillRect l="-8247" r="-9278" b="-27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CD1A0A5F-8F87-91C8-464E-28C65603885C}"/>
              </a:ext>
            </a:extLst>
          </p:cNvPr>
          <p:cNvSpPr txBox="1"/>
          <p:nvPr/>
        </p:nvSpPr>
        <p:spPr>
          <a:xfrm>
            <a:off x="764693" y="4288510"/>
            <a:ext cx="2936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 Conformal symmetries help us fix some points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B5DA636-15EE-66D4-BDB5-007E4575A4E0}"/>
              </a:ext>
            </a:extLst>
          </p:cNvPr>
          <p:cNvSpPr txBox="1"/>
          <p:nvPr/>
        </p:nvSpPr>
        <p:spPr>
          <a:xfrm>
            <a:off x="70153" y="4859925"/>
            <a:ext cx="3363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V: inserted at fixed punctures</a:t>
            </a:r>
            <a:br>
              <a:rPr lang="en-US" altLang="zh-CN" dirty="0"/>
            </a:br>
            <a:r>
              <a:rPr lang="en-US" altLang="zh-CN" dirty="0"/>
              <a:t>U: integrated over the </a:t>
            </a:r>
            <a:r>
              <a:rPr lang="en-US" altLang="zh-CN" dirty="0" err="1"/>
              <a:t>worldsheet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BBDB470-B79F-1326-17F8-A195D26A7B3A}"/>
                  </a:ext>
                </a:extLst>
              </p:cNvPr>
              <p:cNvSpPr txBox="1"/>
              <p:nvPr/>
            </p:nvSpPr>
            <p:spPr>
              <a:xfrm>
                <a:off x="86254" y="5506256"/>
                <a:ext cx="4544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⋯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BBDB470-B79F-1326-17F8-A195D26A7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4" y="5506256"/>
                <a:ext cx="454483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D3F3EEEF-BADF-ABB9-FF8F-F6E627529162}"/>
              </a:ext>
            </a:extLst>
          </p:cNvPr>
          <p:cNvSpPr txBox="1"/>
          <p:nvPr/>
        </p:nvSpPr>
        <p:spPr>
          <a:xfrm>
            <a:off x="492567" y="5460089"/>
            <a:ext cx="3208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 Tree-level correlation functions can be computed using the OPE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59BE0AC-C22F-159F-8A72-32DE2A94B2D5}"/>
              </a:ext>
            </a:extLst>
          </p:cNvPr>
          <p:cNvSpPr txBox="1"/>
          <p:nvPr/>
        </p:nvSpPr>
        <p:spPr>
          <a:xfrm>
            <a:off x="99623" y="6077671"/>
            <a:ext cx="6298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QFT: off-shell correlation function                     on-shell amplitudes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91865BF-494E-B7C3-21ED-1B7D33266B4F}"/>
              </a:ext>
            </a:extLst>
          </p:cNvPr>
          <p:cNvSpPr txBox="1"/>
          <p:nvPr/>
        </p:nvSpPr>
        <p:spPr>
          <a:xfrm>
            <a:off x="86254" y="6447003"/>
            <a:ext cx="7308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String Theory: we only know how to define the on-shell amplitudes directly!</a:t>
            </a:r>
            <a:endParaRPr lang="zh-CN" altLang="en-US" dirty="0"/>
          </a:p>
        </p:txBody>
      </p:sp>
      <p:pic>
        <p:nvPicPr>
          <p:cNvPr id="43" name="图形 42">
            <a:extLst>
              <a:ext uri="{FF2B5EF4-FFF2-40B4-BE49-F238E27FC236}">
                <a16:creationId xmlns:a16="http://schemas.microsoft.com/office/drawing/2014/main" id="{B8309E52-3C6D-435E-D723-2B5961D790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03600" y="6106420"/>
            <a:ext cx="923059" cy="3306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85EE07B-1D8D-6E02-98AE-CB74DEC2FC00}"/>
                  </a:ext>
                </a:extLst>
              </p:cNvPr>
              <p:cNvSpPr txBox="1"/>
              <p:nvPr/>
            </p:nvSpPr>
            <p:spPr>
              <a:xfrm>
                <a:off x="963592" y="451778"/>
                <a:ext cx="1807995" cy="295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0;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≅: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e>
                          </m:d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85EE07B-1D8D-6E02-98AE-CB74DEC2F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92" y="451778"/>
                <a:ext cx="1807995" cy="295594"/>
              </a:xfrm>
              <a:prstGeom prst="rect">
                <a:avLst/>
              </a:prstGeom>
              <a:blipFill>
                <a:blip r:embed="rId15"/>
                <a:stretch>
                  <a:fillRect r="-1010" b="-12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本框 45">
            <a:extLst>
              <a:ext uri="{FF2B5EF4-FFF2-40B4-BE49-F238E27FC236}">
                <a16:creationId xmlns:a16="http://schemas.microsoft.com/office/drawing/2014/main" id="{1E146977-EB62-29FA-4C08-CF1594AB26BE}"/>
              </a:ext>
            </a:extLst>
          </p:cNvPr>
          <p:cNvSpPr txBox="1"/>
          <p:nvPr/>
        </p:nvSpPr>
        <p:spPr>
          <a:xfrm>
            <a:off x="6826" y="406846"/>
            <a:ext cx="949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Tachyon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4E4F89D-F360-4781-CC2D-6B217E94EE5A}"/>
              </a:ext>
            </a:extLst>
          </p:cNvPr>
          <p:cNvSpPr txBox="1"/>
          <p:nvPr/>
        </p:nvSpPr>
        <p:spPr>
          <a:xfrm flipH="1">
            <a:off x="6826" y="747372"/>
            <a:ext cx="169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Photon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A8DA69A-0E52-395A-1CF9-CEC475E5E89C}"/>
              </a:ext>
            </a:extLst>
          </p:cNvPr>
          <p:cNvSpPr txBox="1"/>
          <p:nvPr/>
        </p:nvSpPr>
        <p:spPr>
          <a:xfrm>
            <a:off x="-12282" y="1070538"/>
            <a:ext cx="988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Graviton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5FB5A3F-ECD0-5D6F-0C29-09B474373D44}"/>
                  </a:ext>
                </a:extLst>
              </p:cNvPr>
              <p:cNvSpPr txBox="1"/>
              <p:nvPr/>
            </p:nvSpPr>
            <p:spPr>
              <a:xfrm>
                <a:off x="171838" y="1031973"/>
                <a:ext cx="4621094" cy="429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acc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d>
                        <m:dPr>
                          <m:begChr m:val="|"/>
                          <m:endChr m:val="⟩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0;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≅: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𝜕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</m:acc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𝜈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p>
                      </m:s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5FB5A3F-ECD0-5D6F-0C29-09B474373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38" y="1031973"/>
                <a:ext cx="4621094" cy="429156"/>
              </a:xfrm>
              <a:prstGeom prst="rect">
                <a:avLst/>
              </a:prstGeom>
              <a:blipFill>
                <a:blip r:embed="rId1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CF56F41-E041-0E75-F2E4-0D31CBAA7A71}"/>
                  </a:ext>
                </a:extLst>
              </p:cNvPr>
              <p:cNvSpPr txBox="1"/>
              <p:nvPr/>
            </p:nvSpPr>
            <p:spPr>
              <a:xfrm>
                <a:off x="-12282" y="1457286"/>
                <a:ext cx="47008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ghosts make the relationship between U and V very simple: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CF56F41-E041-0E75-F2E4-0D31CBAA7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282" y="1457286"/>
                <a:ext cx="4700883" cy="646331"/>
              </a:xfrm>
              <a:prstGeom prst="rect">
                <a:avLst/>
              </a:prstGeom>
              <a:blipFill>
                <a:blip r:embed="rId17"/>
                <a:stretch>
                  <a:fillRect l="-1167"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30DD9DA4-EF57-EBA3-8FCB-C13DF0B8FC8D}"/>
                  </a:ext>
                </a:extLst>
              </p:cNvPr>
              <p:cNvSpPr txBox="1"/>
              <p:nvPr/>
            </p:nvSpPr>
            <p:spPr>
              <a:xfrm>
                <a:off x="-169170" y="2057353"/>
                <a:ext cx="46210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𝑐𝑈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30DD9DA4-EF57-EBA3-8FCB-C13DF0B8F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9170" y="2057353"/>
                <a:ext cx="462109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A567691-3793-6508-6C25-5F24FC437F66}"/>
                  </a:ext>
                </a:extLst>
              </p:cNvPr>
              <p:cNvSpPr txBox="1"/>
              <p:nvPr/>
            </p:nvSpPr>
            <p:spPr>
              <a:xfrm>
                <a:off x="-224142" y="754590"/>
                <a:ext cx="4657916" cy="383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d>
                        <m:dPr>
                          <m:begChr m:val="|"/>
                          <m:endChr m:val="⟩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0;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≅: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𝜕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p>
                      </m:s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A567691-3793-6508-6C25-5F24FC437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4142" y="754590"/>
                <a:ext cx="4657916" cy="38375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78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2" grpId="0"/>
      <p:bldP spid="33" grpId="0"/>
      <p:bldP spid="34" grpId="0"/>
      <p:bldP spid="37" grpId="0"/>
      <p:bldP spid="38" grpId="0"/>
      <p:bldP spid="39" grpId="0"/>
      <p:bldP spid="40" grpId="0"/>
      <p:bldP spid="41" grpId="0"/>
      <p:bldP spid="44" grpId="0"/>
      <p:bldP spid="46" grpId="0"/>
      <p:bldP spid="47" grpId="0"/>
      <p:bldP spid="53" grpId="0"/>
      <p:bldP spid="55" grpId="0"/>
      <p:bldP spid="56" grpId="0"/>
      <p:bldP spid="58" grpId="0"/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8700568-1E53-C746-14EC-41909B12C379}"/>
              </a:ext>
            </a:extLst>
          </p:cNvPr>
          <p:cNvSpPr txBox="1"/>
          <p:nvPr/>
        </p:nvSpPr>
        <p:spPr>
          <a:xfrm>
            <a:off x="0" y="0"/>
            <a:ext cx="6527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Superstring Theory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D042FB-0CD0-FC73-2A42-39B69D8DFD3B}"/>
              </a:ext>
            </a:extLst>
          </p:cNvPr>
          <p:cNvSpPr txBox="1"/>
          <p:nvPr/>
        </p:nvSpPr>
        <p:spPr>
          <a:xfrm>
            <a:off x="739752" y="612986"/>
            <a:ext cx="151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Bosonic String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EDC3E0-B360-9FF5-17AD-C0CC3707A84E}"/>
              </a:ext>
            </a:extLst>
          </p:cNvPr>
          <p:cNvSpPr txBox="1"/>
          <p:nvPr/>
        </p:nvSpPr>
        <p:spPr>
          <a:xfrm>
            <a:off x="4121191" y="343520"/>
            <a:ext cx="1596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RNS Formalism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738FC8-D3EF-9B87-7C6E-EC3E66BF5850}"/>
              </a:ext>
            </a:extLst>
          </p:cNvPr>
          <p:cNvSpPr txBox="1"/>
          <p:nvPr/>
        </p:nvSpPr>
        <p:spPr>
          <a:xfrm>
            <a:off x="4121191" y="931826"/>
            <a:ext cx="1468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GS Formalism</a:t>
            </a:r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A50377C-3EEB-4C68-75F7-2798EF121502}"/>
              </a:ext>
            </a:extLst>
          </p:cNvPr>
          <p:cNvCxnSpPr>
            <a:stCxn id="5" idx="1"/>
            <a:endCxn id="2" idx="3"/>
          </p:cNvCxnSpPr>
          <p:nvPr/>
        </p:nvCxnSpPr>
        <p:spPr>
          <a:xfrm flipH="1" flipV="1">
            <a:off x="2254910" y="797652"/>
            <a:ext cx="1866281" cy="318840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77F75A3-6E2C-5275-C05A-FB036F530921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2254910" y="528186"/>
            <a:ext cx="1866281" cy="26946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82F5C83-DF7F-1F9B-6D3C-811B849A0746}"/>
              </a:ext>
            </a:extLst>
          </p:cNvPr>
          <p:cNvSpPr txBox="1"/>
          <p:nvPr/>
        </p:nvSpPr>
        <p:spPr>
          <a:xfrm rot="21088643">
            <a:off x="2272356" y="335986"/>
            <a:ext cx="179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Worldsheet</a:t>
            </a:r>
            <a:r>
              <a:rPr lang="en-US" altLang="zh-CN" dirty="0"/>
              <a:t> SUSY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4DDEBE-C6C0-B779-987B-2F60B0A72827}"/>
              </a:ext>
            </a:extLst>
          </p:cNvPr>
          <p:cNvSpPr txBox="1"/>
          <p:nvPr/>
        </p:nvSpPr>
        <p:spPr>
          <a:xfrm rot="602095">
            <a:off x="2327627" y="865611"/>
            <a:ext cx="1686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Spacetime SUSY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03FC4CE-EC90-EA75-1E29-CF6729717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068" y="0"/>
            <a:ext cx="3144932" cy="233654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6DB9F44-8A9D-129A-1768-EDF189A53F99}"/>
              </a:ext>
            </a:extLst>
          </p:cNvPr>
          <p:cNvSpPr txBox="1"/>
          <p:nvPr/>
        </p:nvSpPr>
        <p:spPr>
          <a:xfrm>
            <a:off x="1956507" y="1508975"/>
            <a:ext cx="2117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What we really want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BB7A832-7E15-836B-511A-C29DDBBE11C1}"/>
              </a:ext>
            </a:extLst>
          </p:cNvPr>
          <p:cNvCxnSpPr>
            <a:stCxn id="18" idx="0"/>
            <a:endCxn id="15" idx="2"/>
          </p:cNvCxnSpPr>
          <p:nvPr/>
        </p:nvCxnSpPr>
        <p:spPr>
          <a:xfrm flipV="1">
            <a:off x="3015130" y="1232118"/>
            <a:ext cx="123531" cy="2768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DD344EA-CB94-D3B1-2C3C-85DCD21C9270}"/>
              </a:ext>
            </a:extLst>
          </p:cNvPr>
          <p:cNvSpPr txBox="1"/>
          <p:nvPr/>
        </p:nvSpPr>
        <p:spPr>
          <a:xfrm>
            <a:off x="3897417" y="1385958"/>
            <a:ext cx="2117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Can’t be quantized </a:t>
            </a:r>
            <a:r>
              <a:rPr lang="en-US" altLang="zh-CN" dirty="0" err="1"/>
              <a:t>covariantly</a:t>
            </a:r>
            <a:endParaRPr lang="zh-CN" altLang="en-US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309ECAB-45FF-EFB1-85D0-9EC06A2A4728}"/>
              </a:ext>
            </a:extLst>
          </p:cNvPr>
          <p:cNvCxnSpPr>
            <a:cxnSpLocks/>
          </p:cNvCxnSpPr>
          <p:nvPr/>
        </p:nvCxnSpPr>
        <p:spPr>
          <a:xfrm flipH="1" flipV="1">
            <a:off x="4937860" y="1213738"/>
            <a:ext cx="18180" cy="2952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>
            <a:extLst>
              <a:ext uri="{FF2B5EF4-FFF2-40B4-BE49-F238E27FC236}">
                <a16:creationId xmlns:a16="http://schemas.microsoft.com/office/drawing/2014/main" id="{D5D8471B-3FFC-39B9-2A70-EB6F6BF95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79" y="1931134"/>
            <a:ext cx="5762966" cy="1105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BCFE927-4CA0-274B-BCE2-9B15B784291F}"/>
                  </a:ext>
                </a:extLst>
              </p:cNvPr>
              <p:cNvSpPr txBox="1"/>
              <p:nvPr/>
            </p:nvSpPr>
            <p:spPr>
              <a:xfrm>
                <a:off x="5718167" y="3127901"/>
                <a:ext cx="37278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fix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b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b="1" i="0">
                          <a:latin typeface="Cambria Math" panose="02040503050406030204" pitchFamily="18" charset="0"/>
                        </a:rPr>
                        <m:t>𝐮𝐩𝐞𝐫</m:t>
                      </m:r>
                      <m:r>
                        <m:rPr>
                          <m:nor/>
                        </m:rPr>
                        <a:rPr lang="en-US" altLang="zh-CN" b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b="1" i="0">
                          <a:latin typeface="Cambria Math" panose="02040503050406030204" pitchFamily="18" charset="0"/>
                        </a:rPr>
                        <m:t>diff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CN" b="1" i="0">
                          <a:latin typeface="Cambria Math" panose="02040503050406030204" pitchFamily="18" charset="0"/>
                        </a:rPr>
                        <m:t>weyl</m:t>
                      </m:r>
                      <m:r>
                        <m:rPr>
                          <m:nor/>
                        </m:rPr>
                        <a:rPr lang="en-US" altLang="zh-CN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gauge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BCFE927-4CA0-274B-BCE2-9B15B7842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167" y="3127901"/>
                <a:ext cx="3727839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C9DEA34-0493-9A47-145B-8022FD6CD663}"/>
                  </a:ext>
                </a:extLst>
              </p:cNvPr>
              <p:cNvSpPr txBox="1"/>
              <p:nvPr/>
            </p:nvSpPr>
            <p:spPr>
              <a:xfrm>
                <a:off x="5939620" y="2344291"/>
                <a:ext cx="32313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spinor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on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b="1" i="0">
                          <a:latin typeface="Cambria Math" panose="02040503050406030204" pitchFamily="18" charset="0"/>
                        </a:rPr>
                        <m:t>𝐰𝐨𝐫𝐥𝐝𝐬𝐡𝐞𝐞𝐭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C9DEA34-0493-9A47-145B-8022FD6CD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620" y="2344291"/>
                <a:ext cx="3231349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本框 40">
            <a:extLst>
              <a:ext uri="{FF2B5EF4-FFF2-40B4-BE49-F238E27FC236}">
                <a16:creationId xmlns:a16="http://schemas.microsoft.com/office/drawing/2014/main" id="{4C919045-55D8-8673-209B-731401365D0F}"/>
              </a:ext>
            </a:extLst>
          </p:cNvPr>
          <p:cNvSpPr txBox="1"/>
          <p:nvPr/>
        </p:nvSpPr>
        <p:spPr>
          <a:xfrm>
            <a:off x="29883" y="5993661"/>
            <a:ext cx="6829426" cy="86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RNS Formalism: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Covariant quantization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 |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 Hide spacetime SUSY</a:t>
            </a: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GS Formalism: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Manifest spacetime SUSY | Light-cone quantization only</a:t>
            </a:r>
          </a:p>
        </p:txBody>
      </p:sp>
      <p:sp>
        <p:nvSpPr>
          <p:cNvPr id="42" name="右大括号 41">
            <a:extLst>
              <a:ext uri="{FF2B5EF4-FFF2-40B4-BE49-F238E27FC236}">
                <a16:creationId xmlns:a16="http://schemas.microsoft.com/office/drawing/2014/main" id="{464E3B0E-AAAF-E487-7D9D-A88FC2CB37AD}"/>
              </a:ext>
            </a:extLst>
          </p:cNvPr>
          <p:cNvSpPr/>
          <p:nvPr/>
        </p:nvSpPr>
        <p:spPr>
          <a:xfrm>
            <a:off x="6859309" y="6110182"/>
            <a:ext cx="215774" cy="596900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4AE6E95-6509-CAF5-81F3-A4589172285E}"/>
              </a:ext>
            </a:extLst>
          </p:cNvPr>
          <p:cNvSpPr txBox="1"/>
          <p:nvPr/>
        </p:nvSpPr>
        <p:spPr>
          <a:xfrm>
            <a:off x="7075083" y="6085466"/>
            <a:ext cx="1900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We need Pure Spinor Formalism!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9A08DFF8-2672-4F91-268C-0EBFEBDE91B8}"/>
                  </a:ext>
                </a:extLst>
              </p:cNvPr>
              <p:cNvSpPr txBox="1"/>
              <p:nvPr/>
            </p:nvSpPr>
            <p:spPr>
              <a:xfrm>
                <a:off x="6241494" y="3383185"/>
                <a:ext cx="2299540" cy="390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But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b="0" i="1" dirty="0">
                            <a:latin typeface="Cambria Math" panose="02040503050406030204" pitchFamily="18" charset="0"/>
                          </a:rPr>
                          <m:t>CQ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non</a:t>
                </a:r>
                <a:r>
                  <a:rPr lang="en-US" altLang="zh-CN" dirty="0"/>
                  <a:t>-SUSY!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9A08DFF8-2672-4F91-268C-0EBFEBDE9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494" y="3383185"/>
                <a:ext cx="2299540" cy="390043"/>
              </a:xfrm>
              <a:prstGeom prst="rect">
                <a:avLst/>
              </a:prstGeom>
              <a:blipFill>
                <a:blip r:embed="rId7"/>
                <a:stretch>
                  <a:fillRect t="-7813" r="-1592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id="{52512715-8358-8F43-579D-23BA87BFCD3A}"/>
              </a:ext>
            </a:extLst>
          </p:cNvPr>
          <p:cNvSpPr txBox="1"/>
          <p:nvPr/>
        </p:nvSpPr>
        <p:spPr>
          <a:xfrm>
            <a:off x="6229869" y="3750458"/>
            <a:ext cx="2650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1-loop modular invariance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2D0FA5B-3117-430D-DE97-33F06DF48251}"/>
              </a:ext>
            </a:extLst>
          </p:cNvPr>
          <p:cNvSpPr txBox="1"/>
          <p:nvPr/>
        </p:nvSpPr>
        <p:spPr>
          <a:xfrm>
            <a:off x="6294405" y="4263879"/>
            <a:ext cx="2521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 need </a:t>
            </a:r>
            <a:r>
              <a:rPr lang="en-US" altLang="zh-CN" b="1" dirty="0"/>
              <a:t>GSO projection</a:t>
            </a:r>
            <a:endParaRPr lang="zh-CN" altLang="en-US" b="1" dirty="0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E3D9B2AB-A8B9-C833-5DE2-0CE924098BCD}"/>
              </a:ext>
            </a:extLst>
          </p:cNvPr>
          <p:cNvSpPr/>
          <p:nvPr/>
        </p:nvSpPr>
        <p:spPr>
          <a:xfrm>
            <a:off x="6229870" y="3773228"/>
            <a:ext cx="2650854" cy="1812786"/>
          </a:xfrm>
          <a:prstGeom prst="roundRect">
            <a:avLst/>
          </a:prstGeom>
          <a:noFill/>
          <a:ln w="38100" cap="flat" cmpd="sng" algn="ctr">
            <a:solidFill>
              <a:srgbClr val="E6001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541967C-6B27-A6DD-16E7-E96D6BB9D454}"/>
                  </a:ext>
                </a:extLst>
              </p:cNvPr>
              <p:cNvSpPr txBox="1"/>
              <p:nvPr/>
            </p:nvSpPr>
            <p:spPr>
              <a:xfrm>
                <a:off x="7276941" y="4030031"/>
                <a:ext cx="5567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latin typeface="Cambria Math" panose="02040503050406030204" pitchFamily="18" charset="0"/>
                        </a:rPr>
                        <m:t>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541967C-6B27-A6DD-16E7-E96D6BB9D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941" y="4030031"/>
                <a:ext cx="55670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E80B010-8803-7239-524F-4EFE2D2B3254}"/>
                  </a:ext>
                </a:extLst>
              </p:cNvPr>
              <p:cNvSpPr txBox="1"/>
              <p:nvPr/>
            </p:nvSpPr>
            <p:spPr>
              <a:xfrm>
                <a:off x="7216575" y="4543452"/>
                <a:ext cx="677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latin typeface="Cambria Math" panose="02040503050406030204" pitchFamily="18" charset="0"/>
                        </a:rPr>
                        <m:t>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E80B010-8803-7239-524F-4EFE2D2B3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575" y="4543452"/>
                <a:ext cx="6774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2387E48-CD23-FB04-E8F0-AFA05519C32C}"/>
                  </a:ext>
                </a:extLst>
              </p:cNvPr>
              <p:cNvSpPr txBox="1"/>
              <p:nvPr/>
            </p:nvSpPr>
            <p:spPr>
              <a:xfrm>
                <a:off x="5728730" y="2610347"/>
                <a:ext cx="365313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b="0" i="0" smtClean="0">
                          <a:latin typeface="Cambria Math" panose="02040503050406030204" pitchFamily="18" charset="0"/>
                        </a:rPr>
                        <m:t>NS</m:t>
                      </m:r>
                      <m:r>
                        <a:rPr lang="zh-CN" alt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b="0" i="0" smtClean="0">
                          <a:latin typeface="Cambria Math" panose="02040503050406030204" pitchFamily="18" charset="0"/>
                        </a:rPr>
                        <m:t>sector</m:t>
                      </m:r>
                      <m:r>
                        <a:rPr lang="zh-CN" altLang="en-US" b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zh-CN" altLang="en-US" b="0" i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zh-CN" altLang="en-US" b="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sector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zh-CN" altLang="en-US" b="0" i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zh-CN" alt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2387E48-CD23-FB04-E8F0-AFA05519C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730" y="2610347"/>
                <a:ext cx="3653133" cy="646331"/>
              </a:xfrm>
              <a:prstGeom prst="rect">
                <a:avLst/>
              </a:prstGeom>
              <a:blipFill>
                <a:blip r:embed="rId10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F51BF1B-367F-B242-DE16-674D0E556009}"/>
                  </a:ext>
                </a:extLst>
              </p:cNvPr>
              <p:cNvSpPr txBox="1"/>
              <p:nvPr/>
            </p:nvSpPr>
            <p:spPr>
              <a:xfrm>
                <a:off x="6325599" y="4749115"/>
                <a:ext cx="2601353" cy="390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Project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i="1" dirty="0">
                            <a:latin typeface="Cambria Math" panose="02040503050406030204" pitchFamily="18" charset="0"/>
                          </a:rPr>
                          <m:t>CQ</m:t>
                        </m:r>
                      </m:sub>
                    </m:sSub>
                  </m:oMath>
                </a14:m>
                <a:r>
                  <a:rPr lang="en-US" altLang="zh-CN" dirty="0"/>
                  <a:t> to SUSY part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F51BF1B-367F-B242-DE16-674D0E556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599" y="4749115"/>
                <a:ext cx="2601353" cy="390043"/>
              </a:xfrm>
              <a:prstGeom prst="rect">
                <a:avLst/>
              </a:prstGeom>
              <a:blipFill>
                <a:blip r:embed="rId11"/>
                <a:stretch>
                  <a:fillRect l="-2113" t="-6250" r="-1174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本框 62">
            <a:extLst>
              <a:ext uri="{FF2B5EF4-FFF2-40B4-BE49-F238E27FC236}">
                <a16:creationId xmlns:a16="http://schemas.microsoft.com/office/drawing/2014/main" id="{EC5BA323-3CAA-9596-587A-FF4BBCF94CCC}"/>
              </a:ext>
            </a:extLst>
          </p:cNvPr>
          <p:cNvSpPr txBox="1"/>
          <p:nvPr/>
        </p:nvSpPr>
        <p:spPr>
          <a:xfrm>
            <a:off x="6501287" y="5216682"/>
            <a:ext cx="2288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Type IIA\B </a:t>
            </a:r>
            <a:r>
              <a:rPr lang="en-US" altLang="zh-CN" dirty="0"/>
              <a:t>superstring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8DE7695-74C9-CADF-03B2-3A9C9AA7B54E}"/>
                  </a:ext>
                </a:extLst>
              </p:cNvPr>
              <p:cNvSpPr txBox="1"/>
              <p:nvPr/>
            </p:nvSpPr>
            <p:spPr>
              <a:xfrm>
                <a:off x="7333409" y="5007300"/>
                <a:ext cx="476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mtClean="0">
                          <a:latin typeface="Cambria Math" panose="02040503050406030204" pitchFamily="18" charset="0"/>
                        </a:rPr>
                        <m:t>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8DE7695-74C9-CADF-03B2-3A9C9AA7B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409" y="5007300"/>
                <a:ext cx="47625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本框 66">
            <a:extLst>
              <a:ext uri="{FF2B5EF4-FFF2-40B4-BE49-F238E27FC236}">
                <a16:creationId xmlns:a16="http://schemas.microsoft.com/office/drawing/2014/main" id="{97B871CD-9A58-4E8F-31D8-16BD59813418}"/>
              </a:ext>
            </a:extLst>
          </p:cNvPr>
          <p:cNvSpPr txBox="1"/>
          <p:nvPr/>
        </p:nvSpPr>
        <p:spPr>
          <a:xfrm>
            <a:off x="6229869" y="5590485"/>
            <a:ext cx="2990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SUSY is hidden, </a:t>
            </a:r>
            <a:r>
              <a:rPr lang="en-US" altLang="zh-CN" b="1" dirty="0">
                <a:solidFill>
                  <a:srgbClr val="FF0000"/>
                </a:solidFill>
              </a:rPr>
              <a:t>not</a:t>
            </a:r>
            <a:r>
              <a:rPr lang="en-US" altLang="zh-CN" b="1" dirty="0"/>
              <a:t> broken!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F5E9F96-E4DB-B421-B2DB-22E5AA59DB3A}"/>
              </a:ext>
            </a:extLst>
          </p:cNvPr>
          <p:cNvSpPr txBox="1"/>
          <p:nvPr/>
        </p:nvSpPr>
        <p:spPr>
          <a:xfrm>
            <a:off x="148946" y="5599614"/>
            <a:ext cx="701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0" dirty="0">
                <a:solidFill>
                  <a:srgbClr val="0F1115"/>
                </a:solidFill>
                <a:effectLst/>
                <a:latin typeface="quote-cjk-patch"/>
              </a:rPr>
              <a:t>The definition of amplitudes is analogous to the bosonic string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505AF45D-9E1E-0FBC-E3EC-62FE79AC2A0F}"/>
                  </a:ext>
                </a:extLst>
              </p:cNvPr>
              <p:cNvSpPr txBox="1"/>
              <p:nvPr/>
            </p:nvSpPr>
            <p:spPr>
              <a:xfrm>
                <a:off x="-58572" y="4876723"/>
                <a:ext cx="5579784" cy="416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sup>
                      </m:s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NS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sector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505AF45D-9E1E-0FBC-E3EC-62FE79AC2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572" y="4876723"/>
                <a:ext cx="5579784" cy="416589"/>
              </a:xfrm>
              <a:prstGeom prst="rect">
                <a:avLst/>
              </a:prstGeom>
              <a:blipFill>
                <a:blip r:embed="rId13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A178FC6-2DD5-6392-DF34-4B80012ADF42}"/>
                  </a:ext>
                </a:extLst>
              </p:cNvPr>
              <p:cNvSpPr txBox="1"/>
              <p:nvPr/>
            </p:nvSpPr>
            <p:spPr>
              <a:xfrm>
                <a:off x="111248" y="5156418"/>
                <a:ext cx="5210895" cy="493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𝑖𝑘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sup>
                      </m:s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b="0" i="1">
                          <a:latin typeface="Cambria Math" panose="02040503050406030204" pitchFamily="18" charset="0"/>
                        </a:rPr>
                        <m:t>sector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A178FC6-2DD5-6392-DF34-4B80012AD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48" y="5156418"/>
                <a:ext cx="5210895" cy="4932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5996D4F-3275-DDCA-363B-80A4067C7466}"/>
                  </a:ext>
                </a:extLst>
              </p:cNvPr>
              <p:cNvSpPr txBox="1"/>
              <p:nvPr/>
            </p:nvSpPr>
            <p:spPr>
              <a:xfrm>
                <a:off x="4963614" y="5089582"/>
                <a:ext cx="1277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𝑐𝑈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5996D4F-3275-DDCA-363B-80A4067C7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614" y="5089582"/>
                <a:ext cx="127788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ADC4181D-22F3-EEC3-DA95-7B1809DE4E6E}"/>
              </a:ext>
            </a:extLst>
          </p:cNvPr>
          <p:cNvSpPr/>
          <p:nvPr/>
        </p:nvSpPr>
        <p:spPr>
          <a:xfrm>
            <a:off x="263275" y="4876722"/>
            <a:ext cx="5767526" cy="788477"/>
          </a:xfrm>
          <a:prstGeom prst="roundRect">
            <a:avLst/>
          </a:prstGeom>
          <a:noFill/>
          <a:ln w="38100" cap="flat" cmpd="sng" algn="ctr">
            <a:solidFill>
              <a:srgbClr val="64BCE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9" name="图形 88">
            <a:extLst>
              <a:ext uri="{FF2B5EF4-FFF2-40B4-BE49-F238E27FC236}">
                <a16:creationId xmlns:a16="http://schemas.microsoft.com/office/drawing/2014/main" id="{EBBAA9B8-47AC-C7DD-5930-EE2B1070F14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54085" y="3127901"/>
            <a:ext cx="6053153" cy="16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16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2" grpId="0"/>
      <p:bldP spid="15" grpId="0"/>
      <p:bldP spid="18" grpId="0"/>
      <p:bldP spid="24" grpId="0"/>
      <p:bldP spid="35" grpId="0"/>
      <p:bldP spid="37" grpId="0"/>
      <p:bldP spid="41" grpId="0"/>
      <p:bldP spid="42" grpId="0" animBg="1"/>
      <p:bldP spid="43" grpId="0"/>
      <p:bldP spid="44" grpId="0"/>
      <p:bldP spid="45" grpId="0"/>
      <p:bldP spid="46" grpId="0"/>
      <p:bldP spid="48" grpId="0" animBg="1"/>
      <p:bldP spid="53" grpId="0"/>
      <p:bldP spid="55" grpId="0"/>
      <p:bldP spid="61" grpId="0"/>
      <p:bldP spid="62" grpId="0"/>
      <p:bldP spid="63" grpId="0"/>
      <p:bldP spid="65" grpId="0"/>
      <p:bldP spid="67" grpId="0"/>
      <p:bldP spid="69" grpId="0"/>
      <p:bldP spid="75" grpId="0"/>
      <p:bldP spid="77" grpId="0"/>
      <p:bldP spid="80" grpId="0"/>
      <p:bldP spid="81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562</TotalTime>
  <Words>366</Words>
  <Application>Microsoft Office PowerPoint</Application>
  <PresentationFormat>全屏显示(4:3)</PresentationFormat>
  <Paragraphs>59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quote-cjk-patch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卜凡 郑</dc:creator>
  <cp:lastModifiedBy>卜凡 郑</cp:lastModifiedBy>
  <cp:revision>57</cp:revision>
  <dcterms:created xsi:type="dcterms:W3CDTF">2025-09-08T08:16:06Z</dcterms:created>
  <dcterms:modified xsi:type="dcterms:W3CDTF">2025-09-12T09:20:41Z</dcterms:modified>
</cp:coreProperties>
</file>